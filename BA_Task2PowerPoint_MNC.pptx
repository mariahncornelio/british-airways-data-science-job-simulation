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4" d="100"/>
          <a:sy n="64" d="100"/>
        </p:scale>
        <p:origin x="10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9A762A-58A7-4928-9B3B-0BE56E298947}"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8CA3B-3EE8-4E6F-8575-E64E446B8488}" type="slidenum">
              <a:rPr lang="en-US" smtClean="0"/>
              <a:t>‹#›</a:t>
            </a:fld>
            <a:endParaRPr lang="en-US"/>
          </a:p>
        </p:txBody>
      </p:sp>
    </p:spTree>
    <p:extLst>
      <p:ext uri="{BB962C8B-B14F-4D97-AF65-F5344CB8AC3E}">
        <p14:creationId xmlns:p14="http://schemas.microsoft.com/office/powerpoint/2010/main" val="437905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8CA3B-3EE8-4E6F-8575-E64E446B8488}" type="slidenum">
              <a:rPr lang="en-US" smtClean="0"/>
              <a:t>2</a:t>
            </a:fld>
            <a:endParaRPr lang="en-US"/>
          </a:p>
        </p:txBody>
      </p:sp>
    </p:spTree>
    <p:extLst>
      <p:ext uri="{BB962C8B-B14F-4D97-AF65-F5344CB8AC3E}">
        <p14:creationId xmlns:p14="http://schemas.microsoft.com/office/powerpoint/2010/main" val="998857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7022-3F03-8AD5-9F35-2F863343B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36316-CA36-AF98-F13F-44D546CCF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8E896-BF68-B4AB-44B6-C6C5B1D475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D403A9-8A5B-00D8-FEC6-A9AC5F990A78}"/>
              </a:ext>
            </a:extLst>
          </p:cNvPr>
          <p:cNvSpPr>
            <a:spLocks noGrp="1"/>
          </p:cNvSpPr>
          <p:nvPr>
            <p:ph type="sldNum" sz="quarter" idx="5"/>
          </p:nvPr>
        </p:nvSpPr>
        <p:spPr/>
        <p:txBody>
          <a:bodyPr/>
          <a:lstStyle/>
          <a:p>
            <a:fld id="{0128CA3B-3EE8-4E6F-8575-E64E446B8488}" type="slidenum">
              <a:rPr lang="en-US" smtClean="0"/>
              <a:t>3</a:t>
            </a:fld>
            <a:endParaRPr lang="en-US"/>
          </a:p>
        </p:txBody>
      </p:sp>
    </p:spTree>
    <p:extLst>
      <p:ext uri="{BB962C8B-B14F-4D97-AF65-F5344CB8AC3E}">
        <p14:creationId xmlns:p14="http://schemas.microsoft.com/office/powerpoint/2010/main" val="942289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8834-8526-AAC0-44D7-E6F9E0BB5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C74BC-B4E5-CF63-F16F-A241A8913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92A1D-B335-D267-A1F8-11E4579CAE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BD986A-680F-868F-14B0-FC1021346237}"/>
              </a:ext>
            </a:extLst>
          </p:cNvPr>
          <p:cNvSpPr>
            <a:spLocks noGrp="1"/>
          </p:cNvSpPr>
          <p:nvPr>
            <p:ph type="sldNum" sz="quarter" idx="5"/>
          </p:nvPr>
        </p:nvSpPr>
        <p:spPr/>
        <p:txBody>
          <a:bodyPr/>
          <a:lstStyle/>
          <a:p>
            <a:fld id="{0128CA3B-3EE8-4E6F-8575-E64E446B8488}" type="slidenum">
              <a:rPr lang="en-US" smtClean="0"/>
              <a:t>4</a:t>
            </a:fld>
            <a:endParaRPr lang="en-US"/>
          </a:p>
        </p:txBody>
      </p:sp>
    </p:spTree>
    <p:extLst>
      <p:ext uri="{BB962C8B-B14F-4D97-AF65-F5344CB8AC3E}">
        <p14:creationId xmlns:p14="http://schemas.microsoft.com/office/powerpoint/2010/main" val="1954047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362EF-BEAE-FBC9-FDDB-FA780995A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8C05E-819A-1EF6-5508-2E33B7B6E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6CA1B-BDB8-C2E7-FA88-0B846D422A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9E195C-D9B8-25D6-FC3A-3D9AE08647FA}"/>
              </a:ext>
            </a:extLst>
          </p:cNvPr>
          <p:cNvSpPr>
            <a:spLocks noGrp="1"/>
          </p:cNvSpPr>
          <p:nvPr>
            <p:ph type="sldNum" sz="quarter" idx="5"/>
          </p:nvPr>
        </p:nvSpPr>
        <p:spPr/>
        <p:txBody>
          <a:bodyPr/>
          <a:lstStyle/>
          <a:p>
            <a:fld id="{0128CA3B-3EE8-4E6F-8575-E64E446B8488}" type="slidenum">
              <a:rPr lang="en-US" smtClean="0"/>
              <a:t>5</a:t>
            </a:fld>
            <a:endParaRPr lang="en-US"/>
          </a:p>
        </p:txBody>
      </p:sp>
    </p:spTree>
    <p:extLst>
      <p:ext uri="{BB962C8B-B14F-4D97-AF65-F5344CB8AC3E}">
        <p14:creationId xmlns:p14="http://schemas.microsoft.com/office/powerpoint/2010/main" val="3755643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CBC8-8C9A-1152-6C34-4B39A840F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92777-2D70-0ACB-F8C8-D902477F6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6784E-7822-09B0-1F82-7A2E907BF2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E1C79-64F5-4480-630E-607250DD4A99}"/>
              </a:ext>
            </a:extLst>
          </p:cNvPr>
          <p:cNvSpPr>
            <a:spLocks noGrp="1"/>
          </p:cNvSpPr>
          <p:nvPr>
            <p:ph type="sldNum" sz="quarter" idx="5"/>
          </p:nvPr>
        </p:nvSpPr>
        <p:spPr/>
        <p:txBody>
          <a:bodyPr/>
          <a:lstStyle/>
          <a:p>
            <a:fld id="{0128CA3B-3EE8-4E6F-8575-E64E446B8488}" type="slidenum">
              <a:rPr lang="en-US" smtClean="0"/>
              <a:t>6</a:t>
            </a:fld>
            <a:endParaRPr lang="en-US"/>
          </a:p>
        </p:txBody>
      </p:sp>
    </p:spTree>
    <p:extLst>
      <p:ext uri="{BB962C8B-B14F-4D97-AF65-F5344CB8AC3E}">
        <p14:creationId xmlns:p14="http://schemas.microsoft.com/office/powerpoint/2010/main" val="2552126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72DC6-4766-3D6A-F43B-F8BDCE7C64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504685-1081-D62F-5E73-AFFF9DE540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CE63AC-92E6-8799-7FD8-02F6BF798881}"/>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5" name="Footer Placeholder 4">
            <a:extLst>
              <a:ext uri="{FF2B5EF4-FFF2-40B4-BE49-F238E27FC236}">
                <a16:creationId xmlns:a16="http://schemas.microsoft.com/office/drawing/2014/main" id="{212679B4-C778-A8DE-31E2-384B5B00A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7E8F7-A957-1336-0161-8D9CB336C142}"/>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123590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26C7E-4037-A626-5E1D-4B8DD2D71A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C10856-90E6-84C0-C147-BA827722E7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67CF9-4709-7F5E-AD20-69F9539A8DB3}"/>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5" name="Footer Placeholder 4">
            <a:extLst>
              <a:ext uri="{FF2B5EF4-FFF2-40B4-BE49-F238E27FC236}">
                <a16:creationId xmlns:a16="http://schemas.microsoft.com/office/drawing/2014/main" id="{2257C7EA-1898-B6AB-AED5-75828B07E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88E89-F615-E6D8-CC18-178B55831803}"/>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318737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D8E9A-9578-BF57-069B-1A18F91DC0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FF53A7-5757-4673-F89E-49C1A26B46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8AA592-6ABE-C591-BA0C-F7589579A32D}"/>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5" name="Footer Placeholder 4">
            <a:extLst>
              <a:ext uri="{FF2B5EF4-FFF2-40B4-BE49-F238E27FC236}">
                <a16:creationId xmlns:a16="http://schemas.microsoft.com/office/drawing/2014/main" id="{2194853E-86D0-F21C-8C22-DD314024E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DD6F6-195A-5991-1940-A9CE47731712}"/>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172834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8F69D-8FEF-97BE-9955-3A199C2A3D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B1BEB7-AB18-55EE-B0C1-07CDCF640F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EA043C-9101-F297-DB42-D8711C170A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178E28-5E01-72E6-6922-2848503B77A1}"/>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6" name="Footer Placeholder 5">
            <a:extLst>
              <a:ext uri="{FF2B5EF4-FFF2-40B4-BE49-F238E27FC236}">
                <a16:creationId xmlns:a16="http://schemas.microsoft.com/office/drawing/2014/main" id="{0241F0B0-CF6D-C954-1C3F-D7430F241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1FFB2-1513-0A00-3399-149D022C548E}"/>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3271984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DFE43-7183-851F-6BE0-570DAAB96C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27E802-CAE4-B9E9-5BC2-84FF638BE7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7B26F2-97A4-F840-C434-22C15C6D22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F777A6-C118-2459-DBE1-6CDF36F69A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3E0FC7-CE3E-1858-1EA7-3EB3B60C5F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4DD6F1-310A-EDD7-4337-62812E85A386}"/>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8" name="Footer Placeholder 7">
            <a:extLst>
              <a:ext uri="{FF2B5EF4-FFF2-40B4-BE49-F238E27FC236}">
                <a16:creationId xmlns:a16="http://schemas.microsoft.com/office/drawing/2014/main" id="{C315569A-93E6-1AD4-9696-3C2444EDEA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17A524-F53A-7FE1-A673-E302EF8DA9F8}"/>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62513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6304-B37D-ABE1-867B-388C2736AB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2DFFD2-AA26-97FE-95A3-7008B119F703}"/>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4" name="Footer Placeholder 3">
            <a:extLst>
              <a:ext uri="{FF2B5EF4-FFF2-40B4-BE49-F238E27FC236}">
                <a16:creationId xmlns:a16="http://schemas.microsoft.com/office/drawing/2014/main" id="{AA8F79AF-C220-0411-6EB7-3CA112948A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1432C2-6D45-6A43-249F-AB5CBA3E4DB9}"/>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367753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ED263E-117C-9E98-DC6D-9E3833B4FAAD}"/>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3" name="Footer Placeholder 2">
            <a:extLst>
              <a:ext uri="{FF2B5EF4-FFF2-40B4-BE49-F238E27FC236}">
                <a16:creationId xmlns:a16="http://schemas.microsoft.com/office/drawing/2014/main" id="{2509ED90-BDAC-9DA7-3F36-9AFDA8629C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8F658B-5026-9901-41DE-188BF503F950}"/>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2339687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6CDF-7CFC-B5F7-A0B8-3DAB78508D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271537-A09C-AF41-4C10-627D115D51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5B747B-FA63-1F0B-A006-9DB73B541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9EC722-0E00-5B3D-DAAF-BAC890952379}"/>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6" name="Footer Placeholder 5">
            <a:extLst>
              <a:ext uri="{FF2B5EF4-FFF2-40B4-BE49-F238E27FC236}">
                <a16:creationId xmlns:a16="http://schemas.microsoft.com/office/drawing/2014/main" id="{94EDB378-8DC2-846B-3D58-361BB4D63E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D130CE-6175-E5F1-EF6B-BB4CED6A6DD7}"/>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3933072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CB7A8-1618-01F4-91E9-FC38B877D9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ABF9DB-45EE-8F37-9799-862ADED429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25ABB1-6583-54E7-C3B1-D164D2579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26DCBC-0254-E30E-AE94-854244A3D5EC}"/>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6" name="Footer Placeholder 5">
            <a:extLst>
              <a:ext uri="{FF2B5EF4-FFF2-40B4-BE49-F238E27FC236}">
                <a16:creationId xmlns:a16="http://schemas.microsoft.com/office/drawing/2014/main" id="{23F9FAD1-1912-0D41-6A2B-C27C508B22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091C0-1AEC-1300-E53D-6CAB15ECA9D8}"/>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2871010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849EA-7937-3096-F3D1-1F239AE06B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E41233-E6B2-96C9-EDEA-D31B9EF6EC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BCAF72-AF7B-3EFB-3752-E0C0C34E1682}"/>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5" name="Footer Placeholder 4">
            <a:extLst>
              <a:ext uri="{FF2B5EF4-FFF2-40B4-BE49-F238E27FC236}">
                <a16:creationId xmlns:a16="http://schemas.microsoft.com/office/drawing/2014/main" id="{276A9F10-834C-85FC-3D42-48A4DDDE5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EE6888-F48A-9FEE-C399-2F77778A472F}"/>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242066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DD5BE6-D2AA-ED53-1F54-0BB7471367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8B11C1-A36F-1D96-CF04-022F23AA37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7079F0-FD27-E249-E189-B84002644E22}"/>
              </a:ext>
            </a:extLst>
          </p:cNvPr>
          <p:cNvSpPr>
            <a:spLocks noGrp="1"/>
          </p:cNvSpPr>
          <p:nvPr>
            <p:ph type="dt" sz="half" idx="10"/>
          </p:nvPr>
        </p:nvSpPr>
        <p:spPr/>
        <p:txBody>
          <a:bodyPr/>
          <a:lstStyle/>
          <a:p>
            <a:fld id="{646CC06F-EDE9-45F7-86AB-CFB88D87F32C}" type="datetimeFigureOut">
              <a:rPr lang="en-US" smtClean="0"/>
              <a:t>1/7/2026</a:t>
            </a:fld>
            <a:endParaRPr lang="en-US"/>
          </a:p>
        </p:txBody>
      </p:sp>
      <p:sp>
        <p:nvSpPr>
          <p:cNvPr id="5" name="Footer Placeholder 4">
            <a:extLst>
              <a:ext uri="{FF2B5EF4-FFF2-40B4-BE49-F238E27FC236}">
                <a16:creationId xmlns:a16="http://schemas.microsoft.com/office/drawing/2014/main" id="{B3DE1801-039A-37C1-2EEF-020175452F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8CA31-A522-B3B8-D16A-A639F0089EDA}"/>
              </a:ext>
            </a:extLst>
          </p:cNvPr>
          <p:cNvSpPr>
            <a:spLocks noGrp="1"/>
          </p:cNvSpPr>
          <p:nvPr>
            <p:ph type="sldNum" sz="quarter" idx="12"/>
          </p:nvPr>
        </p:nvSpPr>
        <p:spPr/>
        <p:txBody>
          <a:bodyPr/>
          <a:lstStyle/>
          <a:p>
            <a:fld id="{B2C2D5C9-894D-44A7-9B18-ECBC732B0072}" type="slidenum">
              <a:rPr lang="en-US" smtClean="0"/>
              <a:t>‹#›</a:t>
            </a:fld>
            <a:endParaRPr lang="en-US"/>
          </a:p>
        </p:txBody>
      </p:sp>
    </p:spTree>
    <p:extLst>
      <p:ext uri="{BB962C8B-B14F-4D97-AF65-F5344CB8AC3E}">
        <p14:creationId xmlns:p14="http://schemas.microsoft.com/office/powerpoint/2010/main" val="125919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2D8F9-6BD9-C501-A414-B048675033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0A35AB-A54B-710A-E4DA-3BA5F5E195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C31292-5D6C-F643-659C-4D892A2161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6CC06F-EDE9-45F7-86AB-CFB88D87F32C}" type="datetimeFigureOut">
              <a:rPr lang="en-US" smtClean="0"/>
              <a:t>1/7/2026</a:t>
            </a:fld>
            <a:endParaRPr lang="en-US"/>
          </a:p>
        </p:txBody>
      </p:sp>
      <p:sp>
        <p:nvSpPr>
          <p:cNvPr id="5" name="Footer Placeholder 4">
            <a:extLst>
              <a:ext uri="{FF2B5EF4-FFF2-40B4-BE49-F238E27FC236}">
                <a16:creationId xmlns:a16="http://schemas.microsoft.com/office/drawing/2014/main" id="{DB132646-535D-C3D2-2BBF-206C186420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B4008E-0965-24B0-E6A1-F9FB858159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C2D5C9-894D-44A7-9B18-ECBC732B0072}" type="slidenum">
              <a:rPr lang="en-US" smtClean="0"/>
              <a:t>‹#›</a:t>
            </a:fld>
            <a:endParaRPr lang="en-US"/>
          </a:p>
        </p:txBody>
      </p:sp>
    </p:spTree>
    <p:extLst>
      <p:ext uri="{BB962C8B-B14F-4D97-AF65-F5344CB8AC3E}">
        <p14:creationId xmlns:p14="http://schemas.microsoft.com/office/powerpoint/2010/main" val="3436039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269BDC9-F5DC-4A16-9583-2F8CE418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97F9E-D889-483C-D598-51A348DD7D0A}"/>
              </a:ext>
            </a:extLst>
          </p:cNvPr>
          <p:cNvSpPr>
            <a:spLocks noGrp="1"/>
          </p:cNvSpPr>
          <p:nvPr>
            <p:ph type="ctrTitle"/>
          </p:nvPr>
        </p:nvSpPr>
        <p:spPr>
          <a:xfrm>
            <a:off x="1524000" y="4063296"/>
            <a:ext cx="9144000" cy="1152663"/>
          </a:xfrm>
        </p:spPr>
        <p:txBody>
          <a:bodyPr anchor="ctr">
            <a:normAutofit/>
          </a:bodyPr>
          <a:lstStyle/>
          <a:p>
            <a:r>
              <a:rPr lang="en-US" sz="3100" b="1" dirty="0"/>
              <a:t>British Airways Forage Task 2: </a:t>
            </a:r>
            <a:r>
              <a:rPr lang="en-US" sz="3100" dirty="0"/>
              <a:t>Key Model Results and Insights for Predicting Customer Booking Behavior</a:t>
            </a:r>
          </a:p>
        </p:txBody>
      </p:sp>
      <p:sp>
        <p:nvSpPr>
          <p:cNvPr id="3" name="Subtitle 2">
            <a:extLst>
              <a:ext uri="{FF2B5EF4-FFF2-40B4-BE49-F238E27FC236}">
                <a16:creationId xmlns:a16="http://schemas.microsoft.com/office/drawing/2014/main" id="{7A50EF47-0B27-17D7-B905-78726EA60779}"/>
              </a:ext>
            </a:extLst>
          </p:cNvPr>
          <p:cNvSpPr>
            <a:spLocks noGrp="1"/>
          </p:cNvSpPr>
          <p:nvPr>
            <p:ph type="subTitle" idx="1"/>
          </p:nvPr>
        </p:nvSpPr>
        <p:spPr>
          <a:xfrm>
            <a:off x="1524000" y="5329534"/>
            <a:ext cx="9144000" cy="646785"/>
          </a:xfrm>
        </p:spPr>
        <p:txBody>
          <a:bodyPr>
            <a:normAutofit/>
          </a:bodyPr>
          <a:lstStyle/>
          <a:p>
            <a:r>
              <a:rPr lang="en-US" dirty="0"/>
              <a:t>By: Mariah Noelle Cornelio</a:t>
            </a:r>
          </a:p>
        </p:txBody>
      </p:sp>
      <p:sp>
        <p:nvSpPr>
          <p:cNvPr id="1033" name="Freeform: Shape 1032">
            <a:extLst>
              <a:ext uri="{FF2B5EF4-FFF2-40B4-BE49-F238E27FC236}">
                <a16:creationId xmlns:a16="http://schemas.microsoft.com/office/drawing/2014/main" id="{903CE7F4-D1BB-4A5B-8E96-915177640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bg2">
              <a:alpha val="50000"/>
            </a:schemeClr>
          </a:solidFill>
          <a:ln w="32707" cap="flat">
            <a:noFill/>
            <a:prstDash val="solid"/>
            <a:miter/>
          </a:ln>
        </p:spPr>
        <p:txBody>
          <a:bodyPr rtlCol="0" anchor="ctr"/>
          <a:lstStyle/>
          <a:p>
            <a:endParaRPr lang="en-US"/>
          </a:p>
        </p:txBody>
      </p:sp>
      <p:pic>
        <p:nvPicPr>
          <p:cNvPr id="1026" name="Picture 2">
            <a:extLst>
              <a:ext uri="{FF2B5EF4-FFF2-40B4-BE49-F238E27FC236}">
                <a16:creationId xmlns:a16="http://schemas.microsoft.com/office/drawing/2014/main" id="{CDC38086-A808-7CCE-EDB2-79EB5B22E43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8" y="1364280"/>
            <a:ext cx="10905064" cy="1717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771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F598-9F21-FB80-C593-415F4C21D770}"/>
              </a:ext>
            </a:extLst>
          </p:cNvPr>
          <p:cNvSpPr>
            <a:spLocks noGrp="1"/>
          </p:cNvSpPr>
          <p:nvPr>
            <p:ph type="title"/>
          </p:nvPr>
        </p:nvSpPr>
        <p:spPr/>
        <p:txBody>
          <a:bodyPr/>
          <a:lstStyle/>
          <a:p>
            <a:r>
              <a:rPr lang="en-US" b="1" dirty="0"/>
              <a:t>Background and Task Overview</a:t>
            </a:r>
          </a:p>
        </p:txBody>
      </p:sp>
      <p:sp>
        <p:nvSpPr>
          <p:cNvPr id="3" name="Content Placeholder 2">
            <a:extLst>
              <a:ext uri="{FF2B5EF4-FFF2-40B4-BE49-F238E27FC236}">
                <a16:creationId xmlns:a16="http://schemas.microsoft.com/office/drawing/2014/main" id="{A9EBC8A7-93B9-6A69-0750-C84948646905}"/>
              </a:ext>
            </a:extLst>
          </p:cNvPr>
          <p:cNvSpPr>
            <a:spLocks noGrp="1"/>
          </p:cNvSpPr>
          <p:nvPr>
            <p:ph idx="1"/>
          </p:nvPr>
        </p:nvSpPr>
        <p:spPr/>
        <p:txBody>
          <a:bodyPr>
            <a:normAutofit lnSpcReduction="10000"/>
          </a:bodyPr>
          <a:lstStyle/>
          <a:p>
            <a:r>
              <a:rPr lang="en-US" dirty="0"/>
              <a:t>Problem context</a:t>
            </a:r>
          </a:p>
          <a:p>
            <a:pPr lvl="1"/>
            <a:r>
              <a:rPr lang="en-US" dirty="0"/>
              <a:t>Customers can now book flights online and have access to details such as seat, baggage, and meal preferences. Predicting booking completion helps BA proactively target high-intent customers</a:t>
            </a:r>
          </a:p>
          <a:p>
            <a:r>
              <a:rPr lang="en-US" dirty="0"/>
              <a:t>Approach</a:t>
            </a:r>
          </a:p>
          <a:p>
            <a:pPr lvl="1"/>
            <a:r>
              <a:rPr lang="en-US" dirty="0"/>
              <a:t>3 models will be tested and compared: Logistic Regression, Random Forest, and </a:t>
            </a:r>
            <a:r>
              <a:rPr lang="en-US" dirty="0" err="1"/>
              <a:t>XGBoost</a:t>
            </a:r>
            <a:endParaRPr lang="en-US" dirty="0"/>
          </a:p>
          <a:p>
            <a:r>
              <a:rPr lang="en-US" dirty="0"/>
              <a:t>Metric prioritization</a:t>
            </a:r>
          </a:p>
          <a:p>
            <a:pPr lvl="1"/>
            <a:r>
              <a:rPr lang="en-US" dirty="0"/>
              <a:t>Recall (captures booking customers) &gt; F1 (balances false positives/negatives) &gt; ROC-AUC (overall predictive power)</a:t>
            </a:r>
          </a:p>
          <a:p>
            <a:pPr lvl="2"/>
            <a:r>
              <a:rPr lang="en-US" dirty="0"/>
              <a:t>Accuracy and precision are considered secondary due to class imbalance in </a:t>
            </a:r>
            <a:r>
              <a:rPr lang="en-US" dirty="0" err="1"/>
              <a:t>booking_complete</a:t>
            </a:r>
            <a:r>
              <a:rPr lang="en-US" dirty="0"/>
              <a:t> target variable</a:t>
            </a:r>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80711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3771B-08E0-9F91-8B99-1152BC62F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3CE9E-5369-A181-3417-CA1F1AF713D9}"/>
              </a:ext>
            </a:extLst>
          </p:cNvPr>
          <p:cNvSpPr>
            <a:spLocks noGrp="1"/>
          </p:cNvSpPr>
          <p:nvPr>
            <p:ph type="title"/>
          </p:nvPr>
        </p:nvSpPr>
        <p:spPr>
          <a:xfrm>
            <a:off x="437213" y="260679"/>
            <a:ext cx="11317573" cy="1325563"/>
          </a:xfrm>
        </p:spPr>
        <p:txBody>
          <a:bodyPr>
            <a:normAutofit/>
          </a:bodyPr>
          <a:lstStyle/>
          <a:p>
            <a:pPr algn="ctr"/>
            <a:r>
              <a:rPr lang="en-US" b="1" dirty="0"/>
              <a:t>Model Comparison (</a:t>
            </a:r>
            <a:r>
              <a:rPr lang="en-US" b="1" dirty="0" err="1"/>
              <a:t>booking_complete</a:t>
            </a:r>
            <a:r>
              <a:rPr lang="en-US" b="1" dirty="0"/>
              <a:t> = 1)</a:t>
            </a:r>
          </a:p>
        </p:txBody>
      </p:sp>
      <p:pic>
        <p:nvPicPr>
          <p:cNvPr id="3074" name="Picture 2">
            <a:extLst>
              <a:ext uri="{FF2B5EF4-FFF2-40B4-BE49-F238E27FC236}">
                <a16:creationId xmlns:a16="http://schemas.microsoft.com/office/drawing/2014/main" id="{5A3A739F-F210-8F96-2681-1F4E9831FA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920" y="1262612"/>
            <a:ext cx="9242156" cy="45861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935ADCD9-C8A6-188A-79EC-9148BAEF9787}"/>
              </a:ext>
            </a:extLst>
          </p:cNvPr>
          <p:cNvSpPr txBox="1">
            <a:spLocks/>
          </p:cNvSpPr>
          <p:nvPr/>
        </p:nvSpPr>
        <p:spPr>
          <a:xfrm>
            <a:off x="722025" y="5848712"/>
            <a:ext cx="11032761" cy="2650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1400" b="1" dirty="0"/>
              <a:t>Figure 1. </a:t>
            </a:r>
            <a:r>
              <a:rPr lang="en-US" sz="1400" dirty="0"/>
              <a:t>Bar chart comparing ROC-AUC, Recall, F1, Precision, Accuracy for all three models</a:t>
            </a:r>
            <a:endParaRPr lang="en-US" sz="1400" b="1" dirty="0"/>
          </a:p>
          <a:p>
            <a:pPr lvl="1"/>
            <a:endParaRPr lang="en-US" dirty="0"/>
          </a:p>
          <a:p>
            <a:pPr lvl="1"/>
            <a:endParaRPr lang="en-US" dirty="0"/>
          </a:p>
          <a:p>
            <a:pPr lvl="1"/>
            <a:endParaRPr lang="en-US" dirty="0"/>
          </a:p>
        </p:txBody>
      </p:sp>
      <p:sp>
        <p:nvSpPr>
          <p:cNvPr id="9" name="Content Placeholder 2">
            <a:extLst>
              <a:ext uri="{FF2B5EF4-FFF2-40B4-BE49-F238E27FC236}">
                <a16:creationId xmlns:a16="http://schemas.microsoft.com/office/drawing/2014/main" id="{1931855A-587E-E9F7-F9F6-8C83463CC4F5}"/>
              </a:ext>
            </a:extLst>
          </p:cNvPr>
          <p:cNvSpPr txBox="1">
            <a:spLocks/>
          </p:cNvSpPr>
          <p:nvPr/>
        </p:nvSpPr>
        <p:spPr>
          <a:xfrm>
            <a:off x="579618" y="6162771"/>
            <a:ext cx="11032761" cy="6330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1400" b="1" dirty="0"/>
              <a:t>Best performing model: </a:t>
            </a:r>
            <a:r>
              <a:rPr lang="en-US" sz="1400" b="1" dirty="0" err="1"/>
              <a:t>XGBoost</a:t>
            </a:r>
            <a:endParaRPr lang="en-US" sz="1400" b="1" dirty="0"/>
          </a:p>
          <a:p>
            <a:pPr marL="457200" lvl="1" indent="0" algn="ctr">
              <a:buNone/>
            </a:pPr>
            <a:r>
              <a:rPr lang="en-US" sz="1400" dirty="0"/>
              <a:t>Chosen due to high and balanced ROC-AUC, recall, and F1 scores that indicate strong predictive power</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199013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F1183-C384-EC28-4937-FF57EEC39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81B7E-B3E1-740E-099E-5E32F5A53251}"/>
              </a:ext>
            </a:extLst>
          </p:cNvPr>
          <p:cNvSpPr>
            <a:spLocks noGrp="1"/>
          </p:cNvSpPr>
          <p:nvPr>
            <p:ph type="title"/>
          </p:nvPr>
        </p:nvSpPr>
        <p:spPr>
          <a:xfrm>
            <a:off x="354767" y="260679"/>
            <a:ext cx="11482465" cy="1325563"/>
          </a:xfrm>
        </p:spPr>
        <p:txBody>
          <a:bodyPr>
            <a:normAutofit/>
          </a:bodyPr>
          <a:lstStyle/>
          <a:p>
            <a:pPr algn="ctr"/>
            <a:r>
              <a:rPr lang="en-US" sz="4000" b="1" dirty="0" err="1"/>
              <a:t>XGBoost</a:t>
            </a:r>
            <a:r>
              <a:rPr lang="en-US" sz="4000" b="1" dirty="0"/>
              <a:t> Classification Report &amp; Confusion Matrix</a:t>
            </a:r>
          </a:p>
        </p:txBody>
      </p:sp>
      <p:pic>
        <p:nvPicPr>
          <p:cNvPr id="4098" name="Picture 2">
            <a:extLst>
              <a:ext uri="{FF2B5EF4-FFF2-40B4-BE49-F238E27FC236}">
                <a16:creationId xmlns:a16="http://schemas.microsoft.com/office/drawing/2014/main" id="{5542194A-0ADF-4B0F-5C54-7E744818A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633" y="1586242"/>
            <a:ext cx="4915599" cy="38102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2A486674-DCA4-4D60-7368-ACC365BE751E}"/>
              </a:ext>
            </a:extLst>
          </p:cNvPr>
          <p:cNvGraphicFramePr>
            <a:graphicFrameLocks noGrp="1"/>
          </p:cNvGraphicFramePr>
          <p:nvPr>
            <p:extLst>
              <p:ext uri="{D42A27DB-BD31-4B8C-83A1-F6EECF244321}">
                <p14:modId xmlns:p14="http://schemas.microsoft.com/office/powerpoint/2010/main" val="2146419959"/>
              </p:ext>
            </p:extLst>
          </p:nvPr>
        </p:nvGraphicFramePr>
        <p:xfrm>
          <a:off x="354767" y="2035331"/>
          <a:ext cx="6300867" cy="2225040"/>
        </p:xfrm>
        <a:graphic>
          <a:graphicData uri="http://schemas.openxmlformats.org/drawingml/2006/table">
            <a:tbl>
              <a:tblPr firstRow="1" bandRow="1">
                <a:tableStyleId>{5C22544A-7EE6-4342-B048-85BDC9FD1C3A}</a:tableStyleId>
              </a:tblPr>
              <a:tblGrid>
                <a:gridCol w="1817936">
                  <a:extLst>
                    <a:ext uri="{9D8B030D-6E8A-4147-A177-3AD203B41FA5}">
                      <a16:colId xmlns:a16="http://schemas.microsoft.com/office/drawing/2014/main" val="1119527412"/>
                    </a:ext>
                  </a:extLst>
                </a:gridCol>
                <a:gridCol w="1817936">
                  <a:extLst>
                    <a:ext uri="{9D8B030D-6E8A-4147-A177-3AD203B41FA5}">
                      <a16:colId xmlns:a16="http://schemas.microsoft.com/office/drawing/2014/main" val="2238116846"/>
                    </a:ext>
                  </a:extLst>
                </a:gridCol>
                <a:gridCol w="1817936">
                  <a:extLst>
                    <a:ext uri="{9D8B030D-6E8A-4147-A177-3AD203B41FA5}">
                      <a16:colId xmlns:a16="http://schemas.microsoft.com/office/drawing/2014/main" val="3636056098"/>
                    </a:ext>
                  </a:extLst>
                </a:gridCol>
                <a:gridCol w="847059">
                  <a:extLst>
                    <a:ext uri="{9D8B030D-6E8A-4147-A177-3AD203B41FA5}">
                      <a16:colId xmlns:a16="http://schemas.microsoft.com/office/drawing/2014/main" val="1603315166"/>
                    </a:ext>
                  </a:extLst>
                </a:gridCol>
              </a:tblGrid>
              <a:tr h="370840">
                <a:tc gridSpan="4">
                  <a:txBody>
                    <a:bodyPr/>
                    <a:lstStyle/>
                    <a:p>
                      <a:pPr algn="ctr"/>
                      <a:r>
                        <a:rPr lang="en-US" dirty="0" err="1"/>
                        <a:t>XGBoost</a:t>
                      </a:r>
                      <a:r>
                        <a:rPr lang="en-US" dirty="0"/>
                        <a:t> Classification Report</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588540970"/>
                  </a:ext>
                </a:extLst>
              </a:tr>
              <a:tr h="370840">
                <a:tc>
                  <a:txBody>
                    <a:bodyPr/>
                    <a:lstStyle/>
                    <a:p>
                      <a:endParaRPr lang="en-US"/>
                    </a:p>
                  </a:txBody>
                  <a:tcPr/>
                </a:tc>
                <a:tc>
                  <a:txBody>
                    <a:bodyPr/>
                    <a:lstStyle/>
                    <a:p>
                      <a:r>
                        <a:rPr lang="en-US" b="1" dirty="0"/>
                        <a:t>Precision</a:t>
                      </a:r>
                    </a:p>
                  </a:txBody>
                  <a:tcPr/>
                </a:tc>
                <a:tc>
                  <a:txBody>
                    <a:bodyPr/>
                    <a:lstStyle/>
                    <a:p>
                      <a:r>
                        <a:rPr lang="en-US" b="1" dirty="0"/>
                        <a:t>Recall</a:t>
                      </a:r>
                    </a:p>
                  </a:txBody>
                  <a:tcPr/>
                </a:tc>
                <a:tc>
                  <a:txBody>
                    <a:bodyPr/>
                    <a:lstStyle/>
                    <a:p>
                      <a:r>
                        <a:rPr lang="en-US" b="1" dirty="0"/>
                        <a:t>F1</a:t>
                      </a:r>
                    </a:p>
                  </a:txBody>
                  <a:tcPr/>
                </a:tc>
                <a:extLst>
                  <a:ext uri="{0D108BD9-81ED-4DB2-BD59-A6C34878D82A}">
                    <a16:rowId xmlns:a16="http://schemas.microsoft.com/office/drawing/2014/main" val="3224304461"/>
                  </a:ext>
                </a:extLst>
              </a:tr>
              <a:tr h="370840">
                <a:tc>
                  <a:txBody>
                    <a:bodyPr/>
                    <a:lstStyle/>
                    <a:p>
                      <a:r>
                        <a:rPr lang="en-US" b="1" dirty="0"/>
                        <a:t>0 (Not Booked)</a:t>
                      </a:r>
                    </a:p>
                  </a:txBody>
                  <a:tcPr/>
                </a:tc>
                <a:tc>
                  <a:txBody>
                    <a:bodyPr/>
                    <a:lstStyle/>
                    <a:p>
                      <a:r>
                        <a:rPr lang="en-US" dirty="0"/>
                        <a:t>0.92</a:t>
                      </a:r>
                    </a:p>
                  </a:txBody>
                  <a:tcPr/>
                </a:tc>
                <a:tc>
                  <a:txBody>
                    <a:bodyPr/>
                    <a:lstStyle/>
                    <a:p>
                      <a:r>
                        <a:rPr lang="en-US" dirty="0"/>
                        <a:t>0.78</a:t>
                      </a:r>
                    </a:p>
                  </a:txBody>
                  <a:tcPr/>
                </a:tc>
                <a:tc>
                  <a:txBody>
                    <a:bodyPr/>
                    <a:lstStyle/>
                    <a:p>
                      <a:r>
                        <a:rPr lang="en-US" dirty="0"/>
                        <a:t>0.84</a:t>
                      </a:r>
                    </a:p>
                  </a:txBody>
                  <a:tcPr/>
                </a:tc>
                <a:extLst>
                  <a:ext uri="{0D108BD9-81ED-4DB2-BD59-A6C34878D82A}">
                    <a16:rowId xmlns:a16="http://schemas.microsoft.com/office/drawing/2014/main" val="2580003952"/>
                  </a:ext>
                </a:extLst>
              </a:tr>
              <a:tr h="370840">
                <a:tc>
                  <a:txBody>
                    <a:bodyPr/>
                    <a:lstStyle/>
                    <a:p>
                      <a:r>
                        <a:rPr lang="en-US" b="1" dirty="0"/>
                        <a:t>1 (Booked)</a:t>
                      </a:r>
                    </a:p>
                  </a:txBody>
                  <a:tcPr/>
                </a:tc>
                <a:tc>
                  <a:txBody>
                    <a:bodyPr/>
                    <a:lstStyle/>
                    <a:p>
                      <a:r>
                        <a:rPr lang="en-US" dirty="0"/>
                        <a:t>0.33</a:t>
                      </a:r>
                    </a:p>
                  </a:txBody>
                  <a:tcPr/>
                </a:tc>
                <a:tc>
                  <a:txBody>
                    <a:bodyPr/>
                    <a:lstStyle/>
                    <a:p>
                      <a:r>
                        <a:rPr lang="en-US" dirty="0"/>
                        <a:t>0.60</a:t>
                      </a:r>
                    </a:p>
                  </a:txBody>
                  <a:tcPr/>
                </a:tc>
                <a:tc>
                  <a:txBody>
                    <a:bodyPr/>
                    <a:lstStyle/>
                    <a:p>
                      <a:r>
                        <a:rPr lang="en-US" dirty="0"/>
                        <a:t>0.42</a:t>
                      </a:r>
                    </a:p>
                  </a:txBody>
                  <a:tcPr/>
                </a:tc>
                <a:extLst>
                  <a:ext uri="{0D108BD9-81ED-4DB2-BD59-A6C34878D82A}">
                    <a16:rowId xmlns:a16="http://schemas.microsoft.com/office/drawing/2014/main" val="138919661"/>
                  </a:ext>
                </a:extLst>
              </a:tr>
              <a:tr h="370840">
                <a:tc>
                  <a:txBody>
                    <a:bodyPr/>
                    <a:lstStyle/>
                    <a:p>
                      <a:r>
                        <a:rPr lang="en-US" b="1" dirty="0"/>
                        <a:t>Accuracy</a:t>
                      </a:r>
                    </a:p>
                  </a:txBody>
                  <a:tcPr/>
                </a:tc>
                <a:tc>
                  <a:txBody>
                    <a:bodyPr/>
                    <a:lstStyle/>
                    <a:p>
                      <a:endParaRPr lang="en-US" dirty="0"/>
                    </a:p>
                  </a:txBody>
                  <a:tcPr/>
                </a:tc>
                <a:tc>
                  <a:txBody>
                    <a:bodyPr/>
                    <a:lstStyle/>
                    <a:p>
                      <a:endParaRPr lang="en-US" dirty="0"/>
                    </a:p>
                  </a:txBody>
                  <a:tcPr/>
                </a:tc>
                <a:tc>
                  <a:txBody>
                    <a:bodyPr/>
                    <a:lstStyle/>
                    <a:p>
                      <a:r>
                        <a:rPr lang="en-US" dirty="0"/>
                        <a:t>0.75</a:t>
                      </a:r>
                    </a:p>
                  </a:txBody>
                  <a:tcPr/>
                </a:tc>
                <a:extLst>
                  <a:ext uri="{0D108BD9-81ED-4DB2-BD59-A6C34878D82A}">
                    <a16:rowId xmlns:a16="http://schemas.microsoft.com/office/drawing/2014/main" val="464886109"/>
                  </a:ext>
                </a:extLst>
              </a:tr>
              <a:tr h="370840">
                <a:tc>
                  <a:txBody>
                    <a:bodyPr/>
                    <a:lstStyle/>
                    <a:p>
                      <a:r>
                        <a:rPr lang="en-US" b="1" dirty="0"/>
                        <a:t>Macro Avg</a:t>
                      </a:r>
                    </a:p>
                  </a:txBody>
                  <a:tcPr/>
                </a:tc>
                <a:tc>
                  <a:txBody>
                    <a:bodyPr/>
                    <a:lstStyle/>
                    <a:p>
                      <a:r>
                        <a:rPr lang="en-US" dirty="0"/>
                        <a:t>0.62</a:t>
                      </a:r>
                    </a:p>
                  </a:txBody>
                  <a:tcPr/>
                </a:tc>
                <a:tc>
                  <a:txBody>
                    <a:bodyPr/>
                    <a:lstStyle/>
                    <a:p>
                      <a:r>
                        <a:rPr lang="en-US" dirty="0"/>
                        <a:t>0.69</a:t>
                      </a:r>
                    </a:p>
                  </a:txBody>
                  <a:tcPr/>
                </a:tc>
                <a:tc>
                  <a:txBody>
                    <a:bodyPr/>
                    <a:lstStyle/>
                    <a:p>
                      <a:r>
                        <a:rPr lang="en-US" dirty="0"/>
                        <a:t>0.63</a:t>
                      </a:r>
                    </a:p>
                  </a:txBody>
                  <a:tcPr/>
                </a:tc>
                <a:extLst>
                  <a:ext uri="{0D108BD9-81ED-4DB2-BD59-A6C34878D82A}">
                    <a16:rowId xmlns:a16="http://schemas.microsoft.com/office/drawing/2014/main" val="2877118570"/>
                  </a:ext>
                </a:extLst>
              </a:tr>
            </a:tbl>
          </a:graphicData>
        </a:graphic>
      </p:graphicFrame>
      <p:sp>
        <p:nvSpPr>
          <p:cNvPr id="8" name="Content Placeholder 2">
            <a:extLst>
              <a:ext uri="{FF2B5EF4-FFF2-40B4-BE49-F238E27FC236}">
                <a16:creationId xmlns:a16="http://schemas.microsoft.com/office/drawing/2014/main" id="{98A9AB79-1F3E-508C-6CEF-0FAD37CDADD8}"/>
              </a:ext>
            </a:extLst>
          </p:cNvPr>
          <p:cNvSpPr txBox="1">
            <a:spLocks/>
          </p:cNvSpPr>
          <p:nvPr/>
        </p:nvSpPr>
        <p:spPr>
          <a:xfrm>
            <a:off x="1382843" y="1697410"/>
            <a:ext cx="4244714" cy="4321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1400" b="1" dirty="0"/>
              <a:t>Table 1. </a:t>
            </a:r>
            <a:r>
              <a:rPr lang="en-US" sz="1400" dirty="0" err="1"/>
              <a:t>XGBoost</a:t>
            </a:r>
            <a:r>
              <a:rPr lang="en-US" sz="1400" dirty="0"/>
              <a:t> metric classification report</a:t>
            </a:r>
            <a:endParaRPr lang="en-US" sz="1400" b="1" dirty="0"/>
          </a:p>
          <a:p>
            <a:pPr lvl="1"/>
            <a:endParaRPr lang="en-US" dirty="0"/>
          </a:p>
          <a:p>
            <a:pPr lvl="1"/>
            <a:endParaRPr lang="en-US" dirty="0"/>
          </a:p>
          <a:p>
            <a:pPr lvl="1"/>
            <a:endParaRPr lang="en-US" dirty="0"/>
          </a:p>
        </p:txBody>
      </p:sp>
      <p:sp>
        <p:nvSpPr>
          <p:cNvPr id="9" name="Content Placeholder 2">
            <a:extLst>
              <a:ext uri="{FF2B5EF4-FFF2-40B4-BE49-F238E27FC236}">
                <a16:creationId xmlns:a16="http://schemas.microsoft.com/office/drawing/2014/main" id="{A4354036-776F-06EE-CF91-0A95C0BDC60E}"/>
              </a:ext>
            </a:extLst>
          </p:cNvPr>
          <p:cNvSpPr txBox="1">
            <a:spLocks/>
          </p:cNvSpPr>
          <p:nvPr/>
        </p:nvSpPr>
        <p:spPr>
          <a:xfrm>
            <a:off x="7257075" y="5396459"/>
            <a:ext cx="4244714" cy="4321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1400" b="1" dirty="0"/>
              <a:t>Figure 2. </a:t>
            </a:r>
            <a:r>
              <a:rPr lang="en-US" sz="1400" dirty="0" err="1"/>
              <a:t>XGBoost</a:t>
            </a:r>
            <a:r>
              <a:rPr lang="en-US" sz="1400" dirty="0"/>
              <a:t> confusion matrix</a:t>
            </a:r>
            <a:endParaRPr lang="en-US" sz="1400" b="1" dirty="0"/>
          </a:p>
          <a:p>
            <a:pPr lvl="1"/>
            <a:endParaRPr lang="en-US" dirty="0"/>
          </a:p>
          <a:p>
            <a:pPr lvl="1"/>
            <a:endParaRPr lang="en-US" dirty="0"/>
          </a:p>
          <a:p>
            <a:pPr lvl="1"/>
            <a:endParaRPr lang="en-US" dirty="0"/>
          </a:p>
        </p:txBody>
      </p:sp>
      <p:sp>
        <p:nvSpPr>
          <p:cNvPr id="10" name="Content Placeholder 2">
            <a:extLst>
              <a:ext uri="{FF2B5EF4-FFF2-40B4-BE49-F238E27FC236}">
                <a16:creationId xmlns:a16="http://schemas.microsoft.com/office/drawing/2014/main" id="{7657C3EF-0822-2F83-AA49-DAEF9AF9DBA2}"/>
              </a:ext>
            </a:extLst>
          </p:cNvPr>
          <p:cNvSpPr txBox="1">
            <a:spLocks/>
          </p:cNvSpPr>
          <p:nvPr/>
        </p:nvSpPr>
        <p:spPr>
          <a:xfrm>
            <a:off x="-179295" y="4949760"/>
            <a:ext cx="7634990" cy="132556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Tx/>
              <a:buChar char="-"/>
            </a:pPr>
            <a:r>
              <a:rPr lang="en-US" sz="3200" dirty="0"/>
              <a:t>True positives are high, capturing most booking customers</a:t>
            </a:r>
          </a:p>
          <a:p>
            <a:pPr lvl="1">
              <a:buFontTx/>
              <a:buChar char="-"/>
            </a:pPr>
            <a:r>
              <a:rPr lang="en-US" sz="3200" dirty="0"/>
              <a:t>False negatives low, few missed opportunities</a:t>
            </a:r>
          </a:p>
          <a:p>
            <a:pPr lvl="1" algn="ctr">
              <a:buFontTx/>
              <a:buChar char="-"/>
            </a:pPr>
            <a:endParaRPr lang="en-US" sz="1400" b="1"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037340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D1D7-D9FC-FF6B-59F3-6A14C92A2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1B34C-3858-2F57-E079-D91E78B45839}"/>
              </a:ext>
            </a:extLst>
          </p:cNvPr>
          <p:cNvSpPr>
            <a:spLocks noGrp="1"/>
          </p:cNvSpPr>
          <p:nvPr>
            <p:ph type="title"/>
          </p:nvPr>
        </p:nvSpPr>
        <p:spPr>
          <a:xfrm>
            <a:off x="437213" y="200718"/>
            <a:ext cx="11317573" cy="1325563"/>
          </a:xfrm>
        </p:spPr>
        <p:txBody>
          <a:bodyPr>
            <a:normAutofit/>
          </a:bodyPr>
          <a:lstStyle/>
          <a:p>
            <a:pPr algn="ctr"/>
            <a:r>
              <a:rPr lang="en-US" b="1" dirty="0" err="1"/>
              <a:t>XGBoost</a:t>
            </a:r>
            <a:r>
              <a:rPr lang="en-US" b="1" dirty="0"/>
              <a:t> Feature Importance</a:t>
            </a:r>
          </a:p>
        </p:txBody>
      </p:sp>
      <p:sp>
        <p:nvSpPr>
          <p:cNvPr id="6" name="Content Placeholder 2">
            <a:extLst>
              <a:ext uri="{FF2B5EF4-FFF2-40B4-BE49-F238E27FC236}">
                <a16:creationId xmlns:a16="http://schemas.microsoft.com/office/drawing/2014/main" id="{75B3ACF1-1EBD-9B97-1C8C-248C88A7D9FD}"/>
              </a:ext>
            </a:extLst>
          </p:cNvPr>
          <p:cNvSpPr txBox="1">
            <a:spLocks/>
          </p:cNvSpPr>
          <p:nvPr/>
        </p:nvSpPr>
        <p:spPr>
          <a:xfrm>
            <a:off x="579618" y="5585035"/>
            <a:ext cx="11032761" cy="2650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1400" b="1" dirty="0"/>
              <a:t>Figure 3. </a:t>
            </a:r>
            <a:r>
              <a:rPr lang="en-US" sz="1400" dirty="0"/>
              <a:t>Feature importance of </a:t>
            </a:r>
            <a:r>
              <a:rPr lang="en-US" sz="1400" dirty="0" err="1"/>
              <a:t>XGBoost</a:t>
            </a:r>
            <a:r>
              <a:rPr lang="en-US" sz="1400" dirty="0"/>
              <a:t> model using gain-based importance</a:t>
            </a:r>
            <a:endParaRPr lang="en-US" sz="1400" b="1" dirty="0"/>
          </a:p>
          <a:p>
            <a:pPr lvl="1"/>
            <a:endParaRPr lang="en-US" dirty="0"/>
          </a:p>
          <a:p>
            <a:pPr lvl="1"/>
            <a:endParaRPr lang="en-US" dirty="0"/>
          </a:p>
          <a:p>
            <a:pPr lvl="1"/>
            <a:endParaRPr lang="en-US" dirty="0"/>
          </a:p>
        </p:txBody>
      </p:sp>
      <p:sp>
        <p:nvSpPr>
          <p:cNvPr id="9" name="Content Placeholder 2">
            <a:extLst>
              <a:ext uri="{FF2B5EF4-FFF2-40B4-BE49-F238E27FC236}">
                <a16:creationId xmlns:a16="http://schemas.microsoft.com/office/drawing/2014/main" id="{1D1DC933-CE57-18A2-9B30-A4161EB772FA}"/>
              </a:ext>
            </a:extLst>
          </p:cNvPr>
          <p:cNvSpPr txBox="1">
            <a:spLocks/>
          </p:cNvSpPr>
          <p:nvPr/>
        </p:nvSpPr>
        <p:spPr>
          <a:xfrm>
            <a:off x="579618" y="6162771"/>
            <a:ext cx="11032761" cy="63305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pPr>
            <a:r>
              <a:rPr lang="en-US" sz="2600" dirty="0"/>
              <a:t>The feature importance plot shows that booking origin, someone purchasing a ticket on their mobile device, round trip flights, customers who want extra baggage, and the route contribute most strongly to the model’s predictive power.</a:t>
            </a:r>
          </a:p>
          <a:p>
            <a:pPr lvl="1"/>
            <a:endParaRPr lang="en-US" dirty="0"/>
          </a:p>
          <a:p>
            <a:pPr lvl="1"/>
            <a:endParaRPr lang="en-US" dirty="0"/>
          </a:p>
        </p:txBody>
      </p:sp>
      <p:pic>
        <p:nvPicPr>
          <p:cNvPr id="5122" name="Picture 2">
            <a:extLst>
              <a:ext uri="{FF2B5EF4-FFF2-40B4-BE49-F238E27FC236}">
                <a16:creationId xmlns:a16="http://schemas.microsoft.com/office/drawing/2014/main" id="{0738CE00-EC71-3839-9E74-ECD8209CB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718" y="1320581"/>
            <a:ext cx="7068564" cy="4216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314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0EAF-05DF-291D-178A-FDFEDCB33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E057F-2139-FBF3-3ACB-0ECABF58F463}"/>
              </a:ext>
            </a:extLst>
          </p:cNvPr>
          <p:cNvSpPr>
            <a:spLocks noGrp="1"/>
          </p:cNvSpPr>
          <p:nvPr>
            <p:ph type="title"/>
          </p:nvPr>
        </p:nvSpPr>
        <p:spPr/>
        <p:txBody>
          <a:bodyPr/>
          <a:lstStyle/>
          <a:p>
            <a:r>
              <a:rPr lang="en-US" b="1" dirty="0"/>
              <a:t>Key Insights and Conclusion</a:t>
            </a:r>
          </a:p>
        </p:txBody>
      </p:sp>
      <p:sp>
        <p:nvSpPr>
          <p:cNvPr id="3" name="Content Placeholder 2">
            <a:extLst>
              <a:ext uri="{FF2B5EF4-FFF2-40B4-BE49-F238E27FC236}">
                <a16:creationId xmlns:a16="http://schemas.microsoft.com/office/drawing/2014/main" id="{E475A686-59CC-5349-769D-5E188A691876}"/>
              </a:ext>
            </a:extLst>
          </p:cNvPr>
          <p:cNvSpPr>
            <a:spLocks noGrp="1"/>
          </p:cNvSpPr>
          <p:nvPr>
            <p:ph idx="1"/>
          </p:nvPr>
        </p:nvSpPr>
        <p:spPr/>
        <p:txBody>
          <a:bodyPr>
            <a:normAutofit fontScale="62500" lnSpcReduction="20000"/>
          </a:bodyPr>
          <a:lstStyle/>
          <a:p>
            <a:pPr marL="0" indent="0">
              <a:buNone/>
            </a:pPr>
            <a:r>
              <a:rPr lang="en-US" dirty="0"/>
              <a:t>The model shows that booking behavior and travel structure such as booking origin, mobile usage, trip type, and route are stronger predictors of booking completion than ancillary preferences alone. This suggests that British Airways can more effectively drive conversions by targeting customers earlier in their booking journey based on behavioral and geographic signals.</a:t>
            </a:r>
          </a:p>
          <a:p>
            <a:pPr marL="0" indent="0">
              <a:buNone/>
            </a:pPr>
            <a:endParaRPr lang="en-US" dirty="0"/>
          </a:p>
          <a:p>
            <a:r>
              <a:rPr lang="en-US" dirty="0"/>
              <a:t>Customers booking via mobile and planning round-trip flights are more likely to complete bookings, indicating that mobile-optimized offers and targeted promotions for return travel may increase conversion rates</a:t>
            </a:r>
          </a:p>
          <a:p>
            <a:r>
              <a:rPr lang="en-US" dirty="0"/>
              <a:t>Booking origin and route emerge as key predictors, suggesting that localized marketing campaigns and route-specific pricing strategies could be particularly effective</a:t>
            </a:r>
          </a:p>
          <a:p>
            <a:r>
              <a:rPr lang="en-US" dirty="0"/>
              <a:t>While preferences such as extra baggage contribute less individually, they still provide incremental value and can be used to refine personalized offers once high-intent customers are identified</a:t>
            </a:r>
          </a:p>
          <a:p>
            <a:pPr marL="0" indent="0">
              <a:buNone/>
            </a:pPr>
            <a:endParaRPr lang="en-US" dirty="0"/>
          </a:p>
          <a:p>
            <a:pPr marL="0" indent="0">
              <a:buNone/>
            </a:pPr>
            <a:r>
              <a:rPr lang="en-US" dirty="0"/>
              <a:t>These findings support a proactive, data-driven acquisition strategy where British Airways prioritizes high-intent customers early, rather than relying on reactive booking behavior at the airport or late in the customer journey.</a:t>
            </a:r>
          </a:p>
          <a:p>
            <a:pPr lvl="1"/>
            <a:endParaRPr lang="en-US" dirty="0"/>
          </a:p>
          <a:p>
            <a:pPr lvl="1"/>
            <a:endParaRPr lang="en-US" dirty="0"/>
          </a:p>
        </p:txBody>
      </p:sp>
    </p:spTree>
    <p:extLst>
      <p:ext uri="{BB962C8B-B14F-4D97-AF65-F5344CB8AC3E}">
        <p14:creationId xmlns:p14="http://schemas.microsoft.com/office/powerpoint/2010/main" val="4002989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462</Words>
  <Application>Microsoft Office PowerPoint</Application>
  <PresentationFormat>Widescreen</PresentationFormat>
  <Paragraphs>62</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British Airways Forage Task 2: Key Model Results and Insights for Predicting Customer Booking Behavior</vt:lpstr>
      <vt:lpstr>Background and Task Overview</vt:lpstr>
      <vt:lpstr>Model Comparison (booking_complete = 1)</vt:lpstr>
      <vt:lpstr>XGBoost Classification Report &amp; Confusion Matrix</vt:lpstr>
      <vt:lpstr>XGBoost Feature Importance</vt:lpstr>
      <vt:lpstr>Key Insights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Mariah Noelle Cornelio</dc:creator>
  <cp:lastModifiedBy>Mariah Noelle Cornelio</cp:lastModifiedBy>
  <cp:revision>1</cp:revision>
  <dcterms:created xsi:type="dcterms:W3CDTF">2026-01-08T01:07:12Z</dcterms:created>
  <dcterms:modified xsi:type="dcterms:W3CDTF">2026-01-08T01:33:27Z</dcterms:modified>
</cp:coreProperties>
</file>